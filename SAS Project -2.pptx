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64" r:id="rId5"/>
    <p:sldId id="272" r:id="rId6"/>
    <p:sldId id="265" r:id="rId7"/>
    <p:sldId id="283" r:id="rId8"/>
    <p:sldId id="273" r:id="rId9"/>
    <p:sldId id="274" r:id="rId10"/>
    <p:sldId id="282" r:id="rId11"/>
    <p:sldId id="279" r:id="rId12"/>
    <p:sldId id="276" r:id="rId13"/>
    <p:sldId id="277" r:id="rId14"/>
    <p:sldId id="278" r:id="rId15"/>
    <p:sldId id="281" r:id="rId16"/>
    <p:sldId id="286" r:id="rId17"/>
    <p:sldId id="284" r:id="rId18"/>
    <p:sldId id="280" r:id="rId19"/>
    <p:sldId id="271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019" autoAdjust="0"/>
  </p:normalViewPr>
  <p:slideViewPr>
    <p:cSldViewPr snapToGrid="0">
      <p:cViewPr varScale="1">
        <p:scale>
          <a:sx n="64" d="100"/>
          <a:sy n="64" d="100"/>
        </p:scale>
        <p:origin x="936" y="78"/>
      </p:cViewPr>
      <p:guideLst/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7FC7C1-D8AA-B091-1F6F-DF34F496CE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4C66C-4BFB-810C-145A-0148EAF322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48B2-9F39-4214-ADF8-BB8A8597363A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74DF4-2BD2-B359-2542-5A3171304A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933CE-E538-0BA9-37EF-03D2B904A5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620F8-C27B-45D3-8113-3F786F5F3A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26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7:37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24575,'1351'0'-1365,"-1317"0"-5461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7:41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24575,'7'0'0,"9"0"0,1-7 0,6-1 0,-2-7 0,2-1 0,-2 3-8191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7:43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24575,'7'0'0,"9"0"0,8 0 0,7 0 0,-2 6 0,2 3 0,1-1 0,-4 6 0,-1 0 0,2-2 0,-3-4-8191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7:49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24575,'1272'0'-1365,"-1238"0"-5461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7:51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24575,'7'-7'0,"9"-9"0,8-1 0,7-5 0,-2 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7:5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24575,'7'0'0,"9"0"0,8 7 0,7 2 0,-2 6 0,1 1 0,-4 4 0,-7 6 0,-7-2-8191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8:04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5T19:18:51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44:26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44:05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24575,'0'512'0,"18"-371"0,-18-18-1365,0-107-5461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3:44:16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2:50:16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24575,'26'1'0,"0"2"0,32 6 0,-33-4 0,0-1 0,41 1 0,870-7 0,-484 4 0,-319-16 0,-109 13-112,-8 1-138,-1 0-1,1 1 0,-1 1 1,23 4-1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2:50:26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 24575,'58'-1'0,"-22"-1"0,-1 3 0,1 0 0,63 12 0,-60-7 0,-1-1 0,1-3 0,0 0 0,44-6 0,10 1 0,-19 5 0,84-4 0,-95-8 0,-44 6 0,1 1 0,26-1 0,61 6 0,82-4 0,-126-8 0,-44 6 0,0 0 0,28 0 0,5 4 0,-23 1 0,1-1 0,-1-1 0,52-11 0,-55 8 0,0 0 0,30 0 0,39-5 0,-37 2 0,-1 2 0,1 3 0,59 5 0,-4 0 0,-29-3-1365,-66 0-5461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2:50:29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24575,'1461'0'0,"-1440"-1"0,0-1 0,28-7 0,8 0 0,2 1 0,-15 2 0,65-2 0,18 9-1365,-109-1-5461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5:57:43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24575,'1589'0'-1365,"-1555"0"-5461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30:38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71 24575,'608'0'0,"-567"-2"0,-1-2 0,46-10 0,-42 6 0,67-5 0,-50 12-455,-1-4 0,60-12 0,-85 10-6371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30:50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24575,'1453'0'-1365,"-1419"0"-5461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13:32:29.9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24575,'1393'0'-1365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6T06:08:29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24575,'100'2'0,"105"-4"0,-176-1 0,160-7 0,-4 3 0,-156 4 0,36-4 0,0 3 0,74 5 0,-68 5 0,135-6 0,-114-9 0,147-8 0,-73 10 0,-79 9 0,90-4 0,-98-7-1365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9B0E6-B9BF-4E2D-AE08-8C7EBB196A2E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3816F-A1CF-4485-B308-1B9F14B36E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83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844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495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16F-A1CF-4485-B308-1B9F14B36EA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8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5" Type="http://schemas.openxmlformats.org/officeDocument/2006/relationships/image" Target="../media/image14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00BC3F5-39B3-1648-62F2-45C08686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31394">
            <a:off x="3790715" y="4482751"/>
            <a:ext cx="3194131" cy="31941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A951F4-AC22-7415-9F2B-28314AEB7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38607" flipH="1">
            <a:off x="-587261" y="1663257"/>
            <a:ext cx="2684499" cy="26844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326095-3B51-C5F9-14E2-1D754BD51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78969">
            <a:off x="1920309" y="4797205"/>
            <a:ext cx="2453456" cy="2453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A2DC491-EA74-1A63-78D5-3236C8B0D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213697">
            <a:off x="-491837" y="3688628"/>
            <a:ext cx="3245427" cy="324542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8DEFB3F-949E-05A4-D2E2-BDEC19A1E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0451125">
            <a:off x="8514237" y="-118161"/>
            <a:ext cx="3005286" cy="300528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FE53462-3A3E-FD14-1012-5A19F0FD0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5361A00-F2C4-8F3D-504C-2CF21C8E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85417" y="359927"/>
            <a:ext cx="7221166" cy="2887389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40298-3E00-4E73-B947-697E692828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85417" y="3368570"/>
            <a:ext cx="7221166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BFF838-44C0-5434-BF69-2B058BC4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79677" y="3278339"/>
            <a:ext cx="49149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CC5AE48-291E-005A-A492-CE0FF1DD1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09186" y="0"/>
            <a:ext cx="3668917" cy="6941127"/>
            <a:chOff x="9009186" y="0"/>
            <a:chExt cx="3668917" cy="694112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35531F-5384-C0A2-104E-55D4C00779C4}"/>
                </a:ext>
              </a:extLst>
            </p:cNvPr>
            <p:cNvGrpSpPr/>
            <p:nvPr/>
          </p:nvGrpSpPr>
          <p:grpSpPr>
            <a:xfrm>
              <a:off x="9055676" y="0"/>
              <a:ext cx="3136324" cy="6858000"/>
              <a:chOff x="9055676" y="0"/>
              <a:chExt cx="3136324" cy="685800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A8AD2DB-4128-5ECA-2FB8-4020AE394BB2}"/>
                  </a:ext>
                </a:extLst>
              </p:cNvPr>
              <p:cNvSpPr/>
              <p:nvPr/>
            </p:nvSpPr>
            <p:spPr>
              <a:xfrm>
                <a:off x="9221932" y="0"/>
                <a:ext cx="2970068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396CF12-83CC-ABBC-A014-1B5592F6F505}"/>
                  </a:ext>
                </a:extLst>
              </p:cNvPr>
              <p:cNvSpPr/>
              <p:nvPr/>
            </p:nvSpPr>
            <p:spPr>
              <a:xfrm>
                <a:off x="9055676" y="0"/>
                <a:ext cx="166255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91BC38-DFC2-6BC6-E88E-3DECF4A02153}"/>
                  </a:ext>
                </a:extLst>
              </p:cNvPr>
              <p:cNvSpPr/>
              <p:nvPr/>
            </p:nvSpPr>
            <p:spPr>
              <a:xfrm>
                <a:off x="9221932" y="0"/>
                <a:ext cx="114301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6A6F50-9B7A-E587-24AB-02AD9C6DE1E4}"/>
                  </a:ext>
                </a:extLst>
              </p:cNvPr>
              <p:cNvSpPr/>
              <p:nvPr/>
            </p:nvSpPr>
            <p:spPr>
              <a:xfrm>
                <a:off x="9336233" y="0"/>
                <a:ext cx="150667" cy="6858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FFBEFC-4933-FBFE-2CF4-A2BD5CB8B4B8}"/>
                  </a:ext>
                </a:extLst>
              </p:cNvPr>
              <p:cNvSpPr/>
              <p:nvPr/>
            </p:nvSpPr>
            <p:spPr>
              <a:xfrm>
                <a:off x="9336233" y="0"/>
                <a:ext cx="5715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9" name="Graphic 8" descr="Clipboard">
              <a:extLst>
                <a:ext uri="{FF2B5EF4-FFF2-40B4-BE49-F238E27FC236}">
                  <a16:creationId xmlns:a16="http://schemas.microsoft.com/office/drawing/2014/main" id="{5972380A-ABA8-B22B-B9B6-28350A684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09186" y="3272210"/>
              <a:ext cx="3668917" cy="3668917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89087"/>
            <a:ext cx="8141556" cy="1591655"/>
          </a:xfrm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3746-779A-435F-995A-5BF82C86C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69" y="1825625"/>
            <a:ext cx="8141556" cy="4351338"/>
          </a:xfrm>
        </p:spPr>
        <p:txBody>
          <a:bodyPr>
            <a:normAutofit/>
          </a:bodyPr>
          <a:lstStyle>
            <a:lvl1pPr>
              <a:spcBef>
                <a:spcPts val="1000"/>
              </a:spcBef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1000"/>
              </a:spcBef>
              <a:defRPr sz="20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1000"/>
              </a:spcBef>
              <a:defRPr sz="18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10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10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4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ix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CB221D3-6315-64BB-0994-9A310350F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282" y="1768455"/>
            <a:ext cx="2268675" cy="201583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21FEC0-BE16-4B46-6696-739A3956C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1282" y="4307031"/>
            <a:ext cx="2268675" cy="201583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F97669-2546-AA5C-3BA3-6ECB25C5F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2299" y="1768455"/>
            <a:ext cx="2268675" cy="201583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EFA880-FC7C-5A7B-D5ED-2E2C5BFF7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72299" y="4307031"/>
            <a:ext cx="2268675" cy="201583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F00A563-A25F-1EBD-4EEE-4C710E8EF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113" y="1768455"/>
            <a:ext cx="2268675" cy="201583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0689EF-32EC-1547-75CA-66B971009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113" y="4307031"/>
            <a:ext cx="2268675" cy="20158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569" y="70382"/>
            <a:ext cx="8179441" cy="881277"/>
          </a:xfrm>
        </p:spPr>
        <p:txBody>
          <a:bodyPr anchor="ctr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671" y="1009650"/>
            <a:ext cx="8178363" cy="642938"/>
          </a:xfrm>
        </p:spPr>
        <p:txBody>
          <a:bodyPr tIns="0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0A2B642-BF0F-0152-908D-0464DA2843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8419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9DD84C2B-121B-74A9-6362-C8FCD9883B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6697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6" name="Picture Placeholder 52">
            <a:extLst>
              <a:ext uri="{FF2B5EF4-FFF2-40B4-BE49-F238E27FC236}">
                <a16:creationId xmlns:a16="http://schemas.microsoft.com/office/drawing/2014/main" id="{3A65400F-DB0C-BEC6-A442-2D18C0552B6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98419" y="485928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C694B856-BF94-9E12-F3B8-EBCE53FC1F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6697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Picture Placeholder 52">
            <a:extLst>
              <a:ext uri="{FF2B5EF4-FFF2-40B4-BE49-F238E27FC236}">
                <a16:creationId xmlns:a16="http://schemas.microsoft.com/office/drawing/2014/main" id="{B05003ED-97CA-ACC0-EAFF-B6BE36F44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49436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85552608-9B21-48D9-05EC-9559CD847E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7714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7" name="Picture Placeholder 52">
            <a:extLst>
              <a:ext uri="{FF2B5EF4-FFF2-40B4-BE49-F238E27FC236}">
                <a16:creationId xmlns:a16="http://schemas.microsoft.com/office/drawing/2014/main" id="{8D142141-5EFE-AE92-887C-AF7122E3AAF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149436" y="4839013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989C3E-1EBE-7D4C-FCBD-42592FD9F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55676" y="0"/>
            <a:ext cx="3136324" cy="7050231"/>
            <a:chOff x="9055676" y="0"/>
            <a:chExt cx="3136324" cy="705023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F3D21E8-C54B-81FE-7C29-5B1A46C3A5AF}"/>
                </a:ext>
              </a:extLst>
            </p:cNvPr>
            <p:cNvGrpSpPr/>
            <p:nvPr/>
          </p:nvGrpSpPr>
          <p:grpSpPr>
            <a:xfrm>
              <a:off x="9055676" y="0"/>
              <a:ext cx="3136324" cy="6858000"/>
              <a:chOff x="9055676" y="0"/>
              <a:chExt cx="3136324" cy="685800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7D92700-70DD-00E1-001C-691299ECB2CE}"/>
                  </a:ext>
                </a:extLst>
              </p:cNvPr>
              <p:cNvSpPr/>
              <p:nvPr/>
            </p:nvSpPr>
            <p:spPr>
              <a:xfrm>
                <a:off x="9221932" y="0"/>
                <a:ext cx="2970068" cy="685800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41EFE4B-9FB1-5DE1-771B-86CD9CE26090}"/>
                  </a:ext>
                </a:extLst>
              </p:cNvPr>
              <p:cNvSpPr/>
              <p:nvPr/>
            </p:nvSpPr>
            <p:spPr>
              <a:xfrm>
                <a:off x="9055676" y="0"/>
                <a:ext cx="166255" cy="6858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9615517-CB50-B0CD-956D-BB99470CD51D}"/>
                  </a:ext>
                </a:extLst>
              </p:cNvPr>
              <p:cNvSpPr/>
              <p:nvPr/>
            </p:nvSpPr>
            <p:spPr>
              <a:xfrm>
                <a:off x="9221932" y="0"/>
                <a:ext cx="114301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74C90E9-6EDE-D764-1FAA-1774082FF60B}"/>
                  </a:ext>
                </a:extLst>
              </p:cNvPr>
              <p:cNvSpPr/>
              <p:nvPr/>
            </p:nvSpPr>
            <p:spPr>
              <a:xfrm>
                <a:off x="9336233" y="0"/>
                <a:ext cx="150667" cy="6858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F850449-5A16-152B-1D51-38BA1FAFCC66}"/>
                  </a:ext>
                </a:extLst>
              </p:cNvPr>
              <p:cNvSpPr/>
              <p:nvPr/>
            </p:nvSpPr>
            <p:spPr>
              <a:xfrm>
                <a:off x="9336233" y="0"/>
                <a:ext cx="5715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9" name="Graphic 28" descr="Shirt">
              <a:extLst>
                <a:ext uri="{FF2B5EF4-FFF2-40B4-BE49-F238E27FC236}">
                  <a16:creationId xmlns:a16="http://schemas.microsoft.com/office/drawing/2014/main" id="{BC5B449E-18C8-C275-1DFE-E844A32CD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887424">
              <a:off x="9541289" y="4083626"/>
              <a:ext cx="1951759" cy="1951759"/>
            </a:xfrm>
            <a:prstGeom prst="rect">
              <a:avLst/>
            </a:prstGeom>
          </p:spPr>
        </p:pic>
        <p:pic>
          <p:nvPicPr>
            <p:cNvPr id="30" name="Graphic 29" descr="Glasses">
              <a:extLst>
                <a:ext uri="{FF2B5EF4-FFF2-40B4-BE49-F238E27FC236}">
                  <a16:creationId xmlns:a16="http://schemas.microsoft.com/office/drawing/2014/main" id="{51B54DB6-8A66-FB28-BE2A-B71834A79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795024">
              <a:off x="11018693" y="3451676"/>
              <a:ext cx="1034563" cy="1034563"/>
            </a:xfrm>
            <a:prstGeom prst="rect">
              <a:avLst/>
            </a:prstGeom>
          </p:spPr>
        </p:pic>
        <p:pic>
          <p:nvPicPr>
            <p:cNvPr id="31" name="Graphic 30" descr="Boot">
              <a:extLst>
                <a:ext uri="{FF2B5EF4-FFF2-40B4-BE49-F238E27FC236}">
                  <a16:creationId xmlns:a16="http://schemas.microsoft.com/office/drawing/2014/main" id="{7B73F953-B9B8-795D-40E4-2AEB8A19B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97835" y="5595504"/>
              <a:ext cx="1454727" cy="1454727"/>
            </a:xfrm>
            <a:prstGeom prst="rect">
              <a:avLst/>
            </a:prstGeom>
          </p:spPr>
        </p:pic>
      </p:grp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89CADEAF-D65D-8FD4-E1A9-B043A2E2E9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7714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Picture Placeholder 52">
            <a:extLst>
              <a:ext uri="{FF2B5EF4-FFF2-40B4-BE49-F238E27FC236}">
                <a16:creationId xmlns:a16="http://schemas.microsoft.com/office/drawing/2014/main" id="{0E1FE068-5CF8-7613-0B65-6B6E32D045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96250" y="22963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3">
            <a:extLst>
              <a:ext uri="{FF2B5EF4-FFF2-40B4-BE49-F238E27FC236}">
                <a16:creationId xmlns:a16="http://schemas.microsoft.com/office/drawing/2014/main" id="{DC3427CE-8A56-70FC-A3A0-4BD14DB8F5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4528" y="3842281"/>
            <a:ext cx="2117845" cy="560223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Picture Placeholder 52">
            <a:extLst>
              <a:ext uri="{FF2B5EF4-FFF2-40B4-BE49-F238E27FC236}">
                <a16:creationId xmlns:a16="http://schemas.microsoft.com/office/drawing/2014/main" id="{12A64211-5E0E-089E-6F73-1A27AC2862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096250" y="4839013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43">
            <a:extLst>
              <a:ext uri="{FF2B5EF4-FFF2-40B4-BE49-F238E27FC236}">
                <a16:creationId xmlns:a16="http://schemas.microsoft.com/office/drawing/2014/main" id="{8ABDFD1A-A7F6-884E-E136-539ECF00EC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4528" y="6395668"/>
            <a:ext cx="2117845" cy="391949"/>
          </a:xfrm>
        </p:spPr>
        <p:txBody>
          <a:bodyPr tIns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9884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6671" y="1209039"/>
            <a:ext cx="817836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9" y="1608089"/>
            <a:ext cx="7216430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D58403-87BD-C72A-405B-69365E022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14" r="15244"/>
          <a:stretch/>
        </p:blipFill>
        <p:spPr>
          <a:xfrm>
            <a:off x="9486900" y="2973678"/>
            <a:ext cx="2705100" cy="38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81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6671" y="1209039"/>
            <a:ext cx="817836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9" y="1608089"/>
            <a:ext cx="7216430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D37FEF-9445-6BCC-841A-0673D96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48" r="19552"/>
          <a:stretch/>
        </p:blipFill>
        <p:spPr>
          <a:xfrm>
            <a:off x="9486899" y="2591331"/>
            <a:ext cx="2705101" cy="426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1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37665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EAE7AC08-8ACF-8A47-6539-ABE76AAE434E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438768" y="1209039"/>
            <a:ext cx="393301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37665" y="1608089"/>
            <a:ext cx="3933614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CD37FEF-9445-6BCC-841A-0673D966F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048" r="19552"/>
          <a:stretch/>
        </p:blipFill>
        <p:spPr>
          <a:xfrm>
            <a:off x="0" y="2591331"/>
            <a:ext cx="2705101" cy="4266669"/>
          </a:xfrm>
          <a:prstGeom prst="rect">
            <a:avLst/>
          </a:prstGeom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A161B53F-A441-96B8-2517-F699FD4957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84093" y="1209039"/>
            <a:ext cx="3933013" cy="386081"/>
          </a:xfrm>
        </p:spPr>
        <p:txBody>
          <a:bodyPr tIns="0" anchor="ctr">
            <a:noAutofit/>
          </a:bodyPr>
          <a:lstStyle>
            <a:lvl1pPr marL="0" indent="0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376168A-A686-C74E-2BEA-2454CA40B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2940" y="1608089"/>
            <a:ext cx="3933614" cy="494337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 sz="18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defRPr sz="14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defRPr sz="14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7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18DA4-ABFB-5090-45B6-A58A75608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297" y="5872163"/>
            <a:ext cx="8179441" cy="569912"/>
          </a:xfrm>
        </p:spPr>
        <p:txBody>
          <a:bodyPr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3B7EE0-028A-E52A-CBF1-C27B4816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0534" y="4155643"/>
            <a:ext cx="2798617" cy="279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6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0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407838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07836" y="1388539"/>
            <a:ext cx="3931920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5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218DA4-ABFB-5090-45B6-A58A75608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07566" y="5872163"/>
            <a:ext cx="8179441" cy="569912"/>
          </a:xfrm>
        </p:spPr>
        <p:txBody>
          <a:bodyPr anchor="ctr">
            <a:noAutofit/>
          </a:bodyPr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3B7EE0-028A-E52A-CBF1-C27B4816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8184" y="4160982"/>
            <a:ext cx="2798617" cy="2798617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EAF187D7-672C-D333-D844-B39166C78D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55087" y="1388538"/>
            <a:ext cx="3931920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5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3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21E8-C54B-81FE-7C29-5B1A46C3A5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55676" y="0"/>
            <a:ext cx="3136324" cy="6858000"/>
            <a:chOff x="9055676" y="0"/>
            <a:chExt cx="3136324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7D92700-70DD-00E1-001C-691299ECB2CE}"/>
                </a:ext>
              </a:extLst>
            </p:cNvPr>
            <p:cNvSpPr/>
            <p:nvPr/>
          </p:nvSpPr>
          <p:spPr>
            <a:xfrm>
              <a:off x="9221932" y="0"/>
              <a:ext cx="2970068" cy="68580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EFE4B-9FB1-5DE1-771B-86CD9CE26090}"/>
                </a:ext>
              </a:extLst>
            </p:cNvPr>
            <p:cNvSpPr/>
            <p:nvPr/>
          </p:nvSpPr>
          <p:spPr>
            <a:xfrm>
              <a:off x="9055676" y="0"/>
              <a:ext cx="166255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615517-CB50-B0CD-956D-BB99470CD51D}"/>
                </a:ext>
              </a:extLst>
            </p:cNvPr>
            <p:cNvSpPr/>
            <p:nvPr/>
          </p:nvSpPr>
          <p:spPr>
            <a:xfrm>
              <a:off x="9221932" y="0"/>
              <a:ext cx="114301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4C90E9-6EDE-D764-1FAA-1774082FF60B}"/>
                </a:ext>
              </a:extLst>
            </p:cNvPr>
            <p:cNvSpPr/>
            <p:nvPr/>
          </p:nvSpPr>
          <p:spPr>
            <a:xfrm>
              <a:off x="9336233" y="0"/>
              <a:ext cx="150667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F850449-5A16-152B-1D51-38BA1FAFCC66}"/>
                </a:ext>
              </a:extLst>
            </p:cNvPr>
            <p:cNvSpPr/>
            <p:nvPr/>
          </p:nvSpPr>
          <p:spPr>
            <a:xfrm>
              <a:off x="9336233" y="0"/>
              <a:ext cx="5715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569" y="111760"/>
            <a:ext cx="8179441" cy="1073579"/>
          </a:xfrm>
        </p:spPr>
        <p:txBody>
          <a:bodyPr anchor="b"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B137BB-D176-29BA-51A9-8D59FA6D0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27058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  <a:lvl2pPr>
              <a:spcBef>
                <a:spcPts val="2400"/>
              </a:spcBef>
              <a:defRPr sz="1400">
                <a:solidFill>
                  <a:schemeClr val="accent5">
                    <a:lumMod val="50000"/>
                  </a:schemeClr>
                </a:solidFill>
              </a:defRPr>
            </a:lvl2pPr>
            <a:lvl3pPr>
              <a:spcBef>
                <a:spcPts val="2400"/>
              </a:spcBef>
              <a:defRPr sz="1200">
                <a:solidFill>
                  <a:schemeClr val="accent5">
                    <a:lumMod val="50000"/>
                  </a:schemeClr>
                </a:solidFill>
              </a:defRPr>
            </a:lvl3pPr>
            <a:lvl4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4pPr>
            <a:lvl5pPr>
              <a:spcBef>
                <a:spcPts val="2400"/>
              </a:spcBef>
              <a:defRPr sz="110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8DBAE8-C7DA-C1F5-0391-B8524E20A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15" r="14689" b="1201"/>
          <a:stretch/>
        </p:blipFill>
        <p:spPr>
          <a:xfrm flipH="1">
            <a:off x="9507682" y="3014205"/>
            <a:ext cx="2684315" cy="38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24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97DD3BA4-93A7-01B1-262E-C51CA6ACA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51125">
            <a:off x="7815679" y="-83148"/>
            <a:ext cx="3005286" cy="30052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00BC3F5-39B3-1648-62F2-45C086865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31394">
            <a:off x="3790715" y="4482751"/>
            <a:ext cx="3194131" cy="319413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A951F4-AC22-7415-9F2B-28314AEB7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38607" flipH="1">
            <a:off x="-587261" y="1663257"/>
            <a:ext cx="2684499" cy="26844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4326095-3B51-C5F9-14E2-1D754BD51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1078969">
            <a:off x="1920309" y="4797205"/>
            <a:ext cx="2453456" cy="2453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A2DC491-EA74-1A63-78D5-3236C8B0D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213697">
            <a:off x="-491837" y="3688628"/>
            <a:ext cx="3245427" cy="32454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FE53462-3A3E-FD14-1012-5A19F0FD0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5361A00-F2C4-8F3D-504C-2CF21C8E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55552" y="1717040"/>
            <a:ext cx="7680896" cy="3104855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4142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08F1-BB29-4C6F-91C9-653A730B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4FEF9-8D09-4091-BE99-B6264EB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3F5E9-5DAC-4C4A-9DF5-C2B87276BCC8}" type="datetimeFigureOut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49AA-83D5-4063-9CDE-AA776304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B27C-3C99-4208-B425-775413C5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EC5C30-0B3A-4B13-ADDD-7C63C8AA921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D6DC5E-041D-BC46-C97A-61F070F58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51125">
            <a:off x="8514237" y="-118161"/>
            <a:ext cx="3005286" cy="30052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E2D9652-3BE5-D545-D5CF-831649D2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889495">
            <a:off x="10171718" y="145767"/>
            <a:ext cx="1574403" cy="157440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993118-9FA8-8C7E-9DC8-24D57E3FD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520790">
            <a:off x="10917677" y="783939"/>
            <a:ext cx="1488402" cy="148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3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A62B2-A6D1-4A6F-8B20-80606F4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E4958-7A46-4331-B2D8-2C31D8F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8548B-339B-46B2-BF01-1EE3DDC7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5B175-C851-453B-B2A0-9A5CFCA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F4A2-0E4F-4E49-A0BF-BEEC7220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AA27-3F13-4BFD-B949-21CF3191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F5E9-5DAC-4C4A-9DF5-C2B87276BCC8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99A2-0FED-42D4-9FBD-08CC1C3F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68D4-5440-4CE2-BAB3-61D83F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6" r:id="rId6"/>
    <p:sldLayoutId id="2147483663" r:id="rId7"/>
    <p:sldLayoutId id="2147483667" r:id="rId8"/>
    <p:sldLayoutId id="2147483664" r:id="rId9"/>
    <p:sldLayoutId id="2147483665" r:id="rId10"/>
    <p:sldLayoutId id="2147483654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8.png"/><Relationship Id="rId18" Type="http://schemas.openxmlformats.org/officeDocument/2006/relationships/image" Target="../media/image23.png"/><Relationship Id="rId3" Type="http://schemas.openxmlformats.org/officeDocument/2006/relationships/customXml" Target="../ink/ink1.xml"/><Relationship Id="rId7" Type="http://schemas.openxmlformats.org/officeDocument/2006/relationships/image" Target="../media/image25.png"/><Relationship Id="rId12" Type="http://schemas.openxmlformats.org/officeDocument/2006/relationships/customXml" Target="../ink/ink5.xml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10" Type="http://schemas.openxmlformats.org/officeDocument/2006/relationships/customXml" Target="../ink/ink4.xml"/><Relationship Id="rId9" Type="http://schemas.openxmlformats.org/officeDocument/2006/relationships/image" Target="../media/image26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0.png"/><Relationship Id="rId4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customXml" Target="../ink/ink13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3" Type="http://schemas.openxmlformats.org/officeDocument/2006/relationships/image" Target="../media/image45.png"/><Relationship Id="rId7" Type="http://schemas.openxmlformats.org/officeDocument/2006/relationships/image" Target="../media/image4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7.xml"/><Relationship Id="rId5" Type="http://schemas.openxmlformats.org/officeDocument/2006/relationships/image" Target="../media/image460.png"/><Relationship Id="rId4" Type="http://schemas.openxmlformats.org/officeDocument/2006/relationships/customXml" Target="../ink/ink16.xml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C7687B-630E-73B0-D12D-839A252BD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5417" y="359927"/>
            <a:ext cx="7221166" cy="2887389"/>
          </a:xfrm>
        </p:spPr>
        <p:txBody>
          <a:bodyPr/>
          <a:lstStyle/>
          <a:p>
            <a:r>
              <a:rPr lang="en-US" dirty="0"/>
              <a:t>SAS Project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2D1C1E9-19F7-AE99-162C-C268D9BAC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5417" y="3368570"/>
            <a:ext cx="7221166" cy="1655762"/>
          </a:xfrm>
        </p:spPr>
        <p:txBody>
          <a:bodyPr/>
          <a:lstStyle/>
          <a:p>
            <a:r>
              <a:rPr lang="en-US" dirty="0"/>
              <a:t>Krishna Parekh</a:t>
            </a:r>
          </a:p>
          <a:p>
            <a:r>
              <a:rPr lang="en-US" sz="2000" dirty="0"/>
              <a:t>MS Health Informatics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778086-8B6A-8961-AFB6-B4D2C0845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579677" y="3278339"/>
            <a:ext cx="49149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5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B756-1A11-356A-399E-4ABF3E4C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16A9D-E723-9785-1FBD-F5892920F9AC}"/>
              </a:ext>
            </a:extLst>
          </p:cNvPr>
          <p:cNvSpPr txBox="1"/>
          <p:nvPr/>
        </p:nvSpPr>
        <p:spPr>
          <a:xfrm>
            <a:off x="1114424" y="1521618"/>
            <a:ext cx="97440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study was conducted to determine whether a “DRUG A” helps to reduce the fasting sugar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level. There are 3400 patients were enrolled for this study. They were randomly assigned to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one.of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three treatment Groups: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Low dose Drug A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 dose Drug A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Placebo.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After ten weeks their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fasting sugar levels were recorded.</a:t>
            </a:r>
          </a:p>
          <a:p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There were two files:</a:t>
            </a:r>
          </a:p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File 1 has variables: Patient ID , Age, State, Length of stay, Total charge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</a:rPr>
              <a:t>File 2 has variables: Patient ID, Group and </a:t>
            </a:r>
            <a:r>
              <a:rPr lang="en-IN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Testscores</a:t>
            </a:r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</a:rPr>
              <a:t> ( FBS level).</a:t>
            </a:r>
          </a:p>
        </p:txBody>
      </p:sp>
    </p:spTree>
    <p:extLst>
      <p:ext uri="{BB962C8B-B14F-4D97-AF65-F5344CB8AC3E}">
        <p14:creationId xmlns:p14="http://schemas.microsoft.com/office/powerpoint/2010/main" val="219732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17B4-3936-D846-3C51-99B816EE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69" y="0"/>
            <a:ext cx="8141556" cy="64473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reading and cleaning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5B67662-23C4-138F-9E0C-CF0481D7C319}"/>
                  </a:ext>
                </a:extLst>
              </p14:cNvPr>
              <p14:cNvContentPartPr/>
              <p14:nvPr/>
            </p14:nvContentPartPr>
            <p14:xfrm>
              <a:off x="2885647" y="1757092"/>
              <a:ext cx="4989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5B67662-23C4-138F-9E0C-CF0481D7C3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77007" y="1748092"/>
                <a:ext cx="5166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5ED3613-A602-45BD-7AC4-370482D1C226}"/>
              </a:ext>
            </a:extLst>
          </p:cNvPr>
          <p:cNvGrpSpPr/>
          <p:nvPr/>
        </p:nvGrpSpPr>
        <p:grpSpPr>
          <a:xfrm>
            <a:off x="2900407" y="1735492"/>
            <a:ext cx="101160" cy="62280"/>
            <a:chOff x="2900407" y="1735492"/>
            <a:chExt cx="101160" cy="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C64CC1-0A15-1141-CC48-222F85655534}"/>
                    </a:ext>
                  </a:extLst>
                </p14:cNvPr>
                <p14:cNvContentPartPr/>
                <p14:nvPr/>
              </p14:nvContentPartPr>
              <p14:xfrm>
                <a:off x="2914447" y="1735492"/>
                <a:ext cx="46080" cy="21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C64CC1-0A15-1141-CC48-222F856555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05447" y="1726852"/>
                  <a:ext cx="63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6270E10-F715-107E-1422-60A99BBA9FEB}"/>
                    </a:ext>
                  </a:extLst>
                </p14:cNvPr>
                <p14:cNvContentPartPr/>
                <p14:nvPr/>
              </p14:nvContentPartPr>
              <p14:xfrm>
                <a:off x="2900407" y="1771492"/>
                <a:ext cx="101160" cy="26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6270E10-F715-107E-1422-60A99BBA9FE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91407" y="1762852"/>
                  <a:ext cx="1188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7087CD-274F-DFC9-AB88-49ED044A9190}"/>
              </a:ext>
            </a:extLst>
          </p:cNvPr>
          <p:cNvGrpSpPr/>
          <p:nvPr/>
        </p:nvGrpSpPr>
        <p:grpSpPr>
          <a:xfrm>
            <a:off x="2514127" y="3642052"/>
            <a:ext cx="470520" cy="72360"/>
            <a:chOff x="2514127" y="3642052"/>
            <a:chExt cx="470520" cy="7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AB2C2B-415E-1121-5D12-FD55AD49FAFB}"/>
                    </a:ext>
                  </a:extLst>
                </p14:cNvPr>
                <p14:cNvContentPartPr/>
                <p14:nvPr/>
              </p14:nvContentPartPr>
              <p14:xfrm>
                <a:off x="2514127" y="3671932"/>
                <a:ext cx="47052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AB2C2B-415E-1121-5D12-FD55AD49FA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05487" y="3662932"/>
                  <a:ext cx="488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1E5558F-DC3D-432F-D2CB-9B27558E2877}"/>
                    </a:ext>
                  </a:extLst>
                </p14:cNvPr>
                <p14:cNvContentPartPr/>
                <p14:nvPr/>
              </p14:nvContentPartPr>
              <p14:xfrm>
                <a:off x="2528887" y="3642052"/>
                <a:ext cx="38880" cy="30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1E5558F-DC3D-432F-D2CB-9B27558E28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19887" y="3633052"/>
                  <a:ext cx="56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478EF5-3220-FC39-4755-DED94C82A71F}"/>
                    </a:ext>
                  </a:extLst>
                </p14:cNvPr>
                <p14:cNvContentPartPr/>
                <p14:nvPr/>
              </p14:nvContentPartPr>
              <p14:xfrm>
                <a:off x="2528887" y="3671932"/>
                <a:ext cx="70200" cy="42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478EF5-3220-FC39-4755-DED94C82A7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19887" y="3662932"/>
                  <a:ext cx="878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CC27178-8271-4C5C-26F6-334868A2FE88}"/>
                  </a:ext>
                </a:extLst>
              </p14:cNvPr>
              <p14:cNvContentPartPr/>
              <p14:nvPr/>
            </p14:nvContentPartPr>
            <p14:xfrm>
              <a:off x="-1229153" y="1357492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CC27178-8271-4C5C-26F6-334868A2FE8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1237793" y="134849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022F2DF-195F-8475-21AF-8D648B608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3994" y="142746"/>
            <a:ext cx="3018044" cy="31854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The missing data and n/a data was removed.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The placebo group was deleted as it was not required based on my research question.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38B356-11D7-C943-7D5F-D461F4D1A9F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2331" y="701973"/>
            <a:ext cx="8494794" cy="591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8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D053-6ECC-6B53-9368-E1B20F0C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40359C-50DA-7A4E-E30C-619418761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569" y="1787340"/>
            <a:ext cx="6213844" cy="36528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56F5B7-3628-438B-D7E7-1967D9A70B1B}"/>
              </a:ext>
            </a:extLst>
          </p:cNvPr>
          <p:cNvSpPr txBox="1"/>
          <p:nvPr/>
        </p:nvSpPr>
        <p:spPr>
          <a:xfrm>
            <a:off x="9686925" y="284749"/>
            <a:ext cx="2289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Full inner join was performed to get matching data from both the tables.</a:t>
            </a:r>
          </a:p>
        </p:txBody>
      </p:sp>
    </p:spTree>
    <p:extLst>
      <p:ext uri="{BB962C8B-B14F-4D97-AF65-F5344CB8AC3E}">
        <p14:creationId xmlns:p14="http://schemas.microsoft.com/office/powerpoint/2010/main" val="28250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8DCD-41AA-3AC6-33FB-90EE82214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6F6F-FEDF-5DF7-1878-7D1806D51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3013" y="6440487"/>
            <a:ext cx="856150" cy="117475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3D6A49-49D6-8FF9-A42A-8CC643FAE6EB}"/>
                  </a:ext>
                </a:extLst>
              </p14:cNvPr>
              <p14:cNvContentPartPr/>
              <p14:nvPr/>
            </p14:nvContentPartPr>
            <p14:xfrm>
              <a:off x="-229073" y="55721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3D6A49-49D6-8FF9-A42A-8CC643FAE6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37713" y="548212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30D1CA8-AF54-0B0A-AFC9-5E567E7B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569" y="1984413"/>
            <a:ext cx="6543850" cy="288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6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7AEE-9806-DCED-F50C-ED9411AF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Descriptive statistics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6A850-35B3-6EAF-579E-79A90AE74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Proc means procedure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67192F-E181-3045-64B6-167C10E1958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08208" y="2244895"/>
            <a:ext cx="8286802" cy="354694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4E07ABF-6DDB-E1AE-4278-80FAAFCA90E9}"/>
                  </a:ext>
                </a:extLst>
              </p14:cNvPr>
              <p14:cNvContentPartPr/>
              <p14:nvPr/>
            </p14:nvContentPartPr>
            <p14:xfrm>
              <a:off x="-357593" y="2835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4E07ABF-6DDB-E1AE-4278-80FAAFCA90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66233" y="1935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910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B12-ABC0-650A-E1E7-C55F3A53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 means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D9358-2971-3215-0B4D-C06DAD97D1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IN" dirty="0"/>
              <a:t>To know the number of patients from each state: AZ and CA.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8C373-BB87-C27E-D0E8-A58E0495F8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567" y="4845100"/>
            <a:ext cx="8179441" cy="569912"/>
          </a:xfrm>
        </p:spPr>
        <p:txBody>
          <a:bodyPr/>
          <a:lstStyle/>
          <a:p>
            <a:r>
              <a:rPr lang="en-IN" sz="1800" dirty="0"/>
              <a:t>Out of 1000, There were 404 number of people chosen from Arizona and 596 from California.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1336E-E9F3-9B35-B895-01F2A1639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084593"/>
            <a:ext cx="6310619" cy="23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7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8798-CC61-26CB-C339-C67065E55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880" y="457200"/>
            <a:ext cx="6272821" cy="671513"/>
          </a:xfrm>
        </p:spPr>
        <p:txBody>
          <a:bodyPr>
            <a:normAutofit fontScale="90000"/>
          </a:bodyPr>
          <a:lstStyle/>
          <a:p>
            <a:r>
              <a:rPr lang="en-IN" dirty="0"/>
              <a:t>Hypothesis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323FF-05FE-460F-109A-1E139CE98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2826" y="1621407"/>
            <a:ext cx="7286875" cy="598484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Research question: </a:t>
            </a:r>
            <a:r>
              <a:rPr lang="en-IN" dirty="0"/>
              <a:t>There is a difference in the </a:t>
            </a:r>
            <a:r>
              <a:rPr lang="en-IN" dirty="0" err="1"/>
              <a:t>testscores</a:t>
            </a:r>
            <a:r>
              <a:rPr lang="en-IN" dirty="0"/>
              <a:t> between the group High dose and Low dose.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E60B4-A296-63CA-FAB2-2F6B19785C58}"/>
              </a:ext>
            </a:extLst>
          </p:cNvPr>
          <p:cNvSpPr txBox="1"/>
          <p:nvPr/>
        </p:nvSpPr>
        <p:spPr>
          <a:xfrm>
            <a:off x="1695451" y="2514601"/>
            <a:ext cx="885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Alternative Hypothesis: Mean of </a:t>
            </a:r>
            <a:r>
              <a:rPr lang="en-IN" dirty="0" err="1">
                <a:solidFill>
                  <a:schemeClr val="bg1"/>
                </a:solidFill>
              </a:rPr>
              <a:t>testscore</a:t>
            </a:r>
            <a:r>
              <a:rPr lang="en-IN" dirty="0">
                <a:solidFill>
                  <a:schemeClr val="bg1"/>
                </a:solidFill>
              </a:rPr>
              <a:t> of </a:t>
            </a:r>
            <a:r>
              <a:rPr lang="en-IN" dirty="0" err="1">
                <a:solidFill>
                  <a:schemeClr val="bg1"/>
                </a:solidFill>
              </a:rPr>
              <a:t>Highdose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sz="2800" dirty="0">
                <a:solidFill>
                  <a:schemeClr val="bg1"/>
                </a:solidFill>
              </a:rPr>
              <a:t>= </a:t>
            </a:r>
            <a:r>
              <a:rPr lang="en-IN" dirty="0" err="1">
                <a:solidFill>
                  <a:schemeClr val="bg1"/>
                </a:solidFill>
              </a:rPr>
              <a:t>Lowdose</a:t>
            </a:r>
            <a:r>
              <a:rPr lang="en-IN" dirty="0">
                <a:solidFill>
                  <a:schemeClr val="bg1"/>
                </a:solidFill>
              </a:rPr>
              <a:t>.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1DAFA7-A2A9-A831-709B-34273823C8AE}"/>
                  </a:ext>
                </a:extLst>
              </p14:cNvPr>
              <p14:cNvContentPartPr/>
              <p14:nvPr/>
            </p14:nvContentPartPr>
            <p14:xfrm>
              <a:off x="7448300" y="2660380"/>
              <a:ext cx="7200" cy="285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1DAFA7-A2A9-A831-709B-34273823C8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9660" y="2651740"/>
                <a:ext cx="2484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58E2ADC-1765-29CC-BCF5-CF5ACB4C27DB}"/>
                  </a:ext>
                </a:extLst>
              </p14:cNvPr>
              <p14:cNvContentPartPr/>
              <p14:nvPr/>
            </p14:nvContentPartPr>
            <p14:xfrm>
              <a:off x="5614807" y="274275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58E2ADC-1765-29CC-BCF5-CF5ACB4C27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6167" y="273411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5D7099-C959-E3DC-0AAB-33A3E279DACA}"/>
              </a:ext>
            </a:extLst>
          </p:cNvPr>
          <p:cNvSpPr txBox="1"/>
          <p:nvPr/>
        </p:nvSpPr>
        <p:spPr>
          <a:xfrm>
            <a:off x="1742826" y="3686237"/>
            <a:ext cx="7881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Null Hypothesis: There is no difference in the mean of </a:t>
            </a:r>
            <a:r>
              <a:rPr lang="en-IN" dirty="0" err="1">
                <a:solidFill>
                  <a:schemeClr val="bg1"/>
                </a:solidFill>
              </a:rPr>
              <a:t>testscore</a:t>
            </a:r>
            <a:r>
              <a:rPr lang="en-IN" dirty="0">
                <a:solidFill>
                  <a:schemeClr val="bg1"/>
                </a:solidFill>
              </a:rPr>
              <a:t> between High dose = Low dose</a:t>
            </a:r>
          </a:p>
        </p:txBody>
      </p:sp>
    </p:spTree>
    <p:extLst>
      <p:ext uri="{BB962C8B-B14F-4D97-AF65-F5344CB8AC3E}">
        <p14:creationId xmlns:p14="http://schemas.microsoft.com/office/powerpoint/2010/main" val="6363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43D6-1B5D-5464-F95D-9639F451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 test- Two sample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55D06-37CA-C511-F11F-6B9BE2AD92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7595" y="4443413"/>
            <a:ext cx="8815387" cy="569912"/>
          </a:xfrm>
        </p:spPr>
        <p:txBody>
          <a:bodyPr/>
          <a:lstStyle/>
          <a:p>
            <a:r>
              <a:rPr lang="en-IN" sz="1800" dirty="0"/>
              <a:t>Two sample test was executed as I have 1 independent variable with two categories in Group: </a:t>
            </a:r>
            <a:r>
              <a:rPr lang="en-IN" sz="1800" b="1" dirty="0"/>
              <a:t>High and Low.</a:t>
            </a:r>
            <a:endParaRPr lang="en-IN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189A9A7-1D78-656D-C516-7BB894C5361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15569" y="1618953"/>
            <a:ext cx="5139203" cy="2390846"/>
          </a:xfrm>
        </p:spPr>
      </p:pic>
    </p:spTree>
    <p:extLst>
      <p:ext uri="{BB962C8B-B14F-4D97-AF65-F5344CB8AC3E}">
        <p14:creationId xmlns:p14="http://schemas.microsoft.com/office/powerpoint/2010/main" val="170726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A909-793E-FA89-E825-4ADE6592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44" y="140335"/>
            <a:ext cx="8179441" cy="845503"/>
          </a:xfrm>
        </p:spPr>
        <p:txBody>
          <a:bodyPr/>
          <a:lstStyle/>
          <a:p>
            <a:r>
              <a:rPr lang="en-IN" dirty="0"/>
              <a:t>Equality of Variance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B92D17-2AE2-E8DC-010A-CD1CEF559DB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409405" y="985838"/>
            <a:ext cx="5763118" cy="321468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479A2-C46D-E892-2312-158E2A3558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1244" y="4629151"/>
            <a:ext cx="8542705" cy="1514474"/>
          </a:xfrm>
        </p:spPr>
        <p:txBody>
          <a:bodyPr/>
          <a:lstStyle/>
          <a:p>
            <a:r>
              <a:rPr lang="en-IN" sz="1800" dirty="0"/>
              <a:t>The (Equality of Variance) F value is far from 1, and the P value for equality of variance is &lt;0.001 therefore rejecting the null hypothesis. This indicates that the variances of the two categories are not equal.</a:t>
            </a:r>
          </a:p>
          <a:p>
            <a:r>
              <a:rPr lang="en-IN" sz="1800" dirty="0"/>
              <a:t>Therefore, we take the Unequal P-value (Satterthwaite).</a:t>
            </a:r>
          </a:p>
          <a:p>
            <a:r>
              <a:rPr lang="en-IN" sz="1800" b="1" dirty="0">
                <a:solidFill>
                  <a:schemeClr val="accent2">
                    <a:lumMod val="75000"/>
                  </a:schemeClr>
                </a:solidFill>
              </a:rPr>
              <a:t>P value = 0.0253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B23660-EA35-31FD-5CA2-2FBB7A94289F}"/>
                  </a:ext>
                </a:extLst>
              </p14:cNvPr>
              <p14:cNvContentPartPr/>
              <p14:nvPr/>
            </p14:nvContentPartPr>
            <p14:xfrm>
              <a:off x="5257748" y="4071990"/>
              <a:ext cx="673920" cy="10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B23660-EA35-31FD-5CA2-2FBB7A9428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9748" y="4053990"/>
                <a:ext cx="7095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E51EC7-0AD2-5600-5833-AC422CBCF4DD}"/>
                  </a:ext>
                </a:extLst>
              </p14:cNvPr>
              <p14:cNvContentPartPr/>
              <p14:nvPr/>
            </p14:nvContentPartPr>
            <p14:xfrm>
              <a:off x="3291600" y="2390160"/>
              <a:ext cx="845640" cy="3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E51EC7-0AD2-5600-5833-AC422CBCF4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73600" y="2372520"/>
                <a:ext cx="88128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7AE943-249D-0777-6C94-E55D49D00406}"/>
                  </a:ext>
                </a:extLst>
              </p14:cNvPr>
              <p14:cNvContentPartPr/>
              <p14:nvPr/>
            </p14:nvContentPartPr>
            <p14:xfrm>
              <a:off x="6309120" y="2407440"/>
              <a:ext cx="708120" cy="15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7AE943-249D-0777-6C94-E55D49D004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1480" y="2389440"/>
                <a:ext cx="743760" cy="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346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B93D-9A24-A05A-B2BB-BB2F0203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 value – 0.0253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EF528-8F09-5946-4545-476D514D6E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IN" dirty="0"/>
              <a:t>Since the research question is a two tail hypothesis, we will not divide the p-value by 2.</a:t>
            </a:r>
          </a:p>
          <a:p>
            <a:r>
              <a:rPr lang="en-IN" dirty="0"/>
              <a:t>The p value is less than alpha(0.05) indicating that we can reject the null hypothesis.</a:t>
            </a:r>
          </a:p>
          <a:p>
            <a:r>
              <a:rPr lang="en-IN" dirty="0"/>
              <a:t>This shows that there is a difference between the mean of the </a:t>
            </a:r>
            <a:r>
              <a:rPr lang="en-IN" dirty="0" err="1"/>
              <a:t>testscores</a:t>
            </a:r>
            <a:r>
              <a:rPr lang="en-IN" dirty="0"/>
              <a:t> between high dose and low dose.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23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3831A9-4F27-FBB9-DBF1-B5D3B1F0BF0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75408" y="228600"/>
            <a:ext cx="7043302" cy="64007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BA058F-528A-227F-656E-7756238A21BD}"/>
              </a:ext>
            </a:extLst>
          </p:cNvPr>
          <p:cNvSpPr txBox="1"/>
          <p:nvPr/>
        </p:nvSpPr>
        <p:spPr>
          <a:xfrm>
            <a:off x="9544050" y="228600"/>
            <a:ext cx="26479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 mean for the high dose group is 102.2</a:t>
            </a:r>
          </a:p>
          <a:p>
            <a:r>
              <a:rPr lang="en-IN" dirty="0">
                <a:solidFill>
                  <a:schemeClr val="bg1"/>
                </a:solidFill>
              </a:rPr>
              <a:t>The mean for low dose group is 89.74.</a:t>
            </a:r>
          </a:p>
          <a:p>
            <a:r>
              <a:rPr lang="en-IN" dirty="0">
                <a:solidFill>
                  <a:schemeClr val="bg1"/>
                </a:solidFill>
              </a:rPr>
              <a:t>The mean difference is 12.46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5BD39F-FA46-E999-8F66-28A7750A5F19}"/>
                  </a:ext>
                </a:extLst>
              </p14:cNvPr>
              <p14:cNvContentPartPr/>
              <p14:nvPr/>
            </p14:nvContentPartPr>
            <p14:xfrm>
              <a:off x="3000127" y="3257550"/>
              <a:ext cx="58464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5BD39F-FA46-E999-8F66-28A7750A5F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1487" y="3248550"/>
                <a:ext cx="60228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874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50D77-E4DA-FE1F-07FC-766F54CF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 GLM was executed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B4DCC-84CC-EB08-65BD-C5B5AA180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154" y="1935533"/>
            <a:ext cx="6894795" cy="344739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B48A9B-1AA8-2816-148E-59EC8A39B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216" y="2471737"/>
            <a:ext cx="4142255" cy="21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6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9492-4D0A-CBD7-4384-471569EA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91" y="-226425"/>
            <a:ext cx="8179441" cy="1073579"/>
          </a:xfrm>
        </p:spPr>
        <p:txBody>
          <a:bodyPr/>
          <a:lstStyle/>
          <a:p>
            <a:r>
              <a:rPr lang="en-IN" dirty="0"/>
              <a:t>Anova test with </a:t>
            </a:r>
            <a:r>
              <a:rPr lang="en-IN" dirty="0" err="1"/>
              <a:t>scheffe</a:t>
            </a:r>
            <a:r>
              <a:rPr lang="en-IN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2EE6D-9F3A-9FFF-351D-A76DC5BC6C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569" y="873452"/>
            <a:ext cx="8178363" cy="386081"/>
          </a:xfrm>
        </p:spPr>
        <p:txBody>
          <a:bodyPr/>
          <a:lstStyle/>
          <a:p>
            <a:r>
              <a:rPr lang="en-IN" dirty="0"/>
              <a:t>With all the three groups: High, Low, Placebo.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43CF23-4239-4F2F-039A-5756307BEA9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945860" y="1634545"/>
            <a:ext cx="5877404" cy="482431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68B615-4902-BC7B-D803-530079FA8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26" y="1634545"/>
            <a:ext cx="5316903" cy="48243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635BB20-6D26-4A7C-2109-A20E29750D68}"/>
                  </a:ext>
                </a:extLst>
              </p14:cNvPr>
              <p14:cNvContentPartPr/>
              <p14:nvPr/>
            </p14:nvContentPartPr>
            <p14:xfrm>
              <a:off x="4629817" y="5402526"/>
              <a:ext cx="434520" cy="25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635BB20-6D26-4A7C-2109-A20E29750D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1817" y="5384526"/>
                <a:ext cx="4701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48D19CA-7C2F-88CA-2935-8626299D9305}"/>
                  </a:ext>
                </a:extLst>
              </p14:cNvPr>
              <p14:cNvContentPartPr/>
              <p14:nvPr/>
            </p14:nvContentPartPr>
            <p14:xfrm>
              <a:off x="8258617" y="4963686"/>
              <a:ext cx="53568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48D19CA-7C2F-88CA-2935-8626299D930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40617" y="4946046"/>
                <a:ext cx="571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FC07FC6-50F8-B334-32EA-3C9D984A266A}"/>
                  </a:ext>
                </a:extLst>
              </p14:cNvPr>
              <p14:cNvContentPartPr/>
              <p14:nvPr/>
            </p14:nvContentPartPr>
            <p14:xfrm>
              <a:off x="8280300" y="5600370"/>
              <a:ext cx="50220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FC07FC6-50F8-B334-32EA-3C9D984A26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2660" y="5582730"/>
                <a:ext cx="5378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433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6EB1-C88E-B1F4-3EC4-CBB8D1F9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Pearson correlation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2CCAA2-1BE8-F168-A84F-AEA3C70D2C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568" y="1388539"/>
            <a:ext cx="8179441" cy="4940824"/>
          </a:xfrm>
        </p:spPr>
        <p:txBody>
          <a:bodyPr/>
          <a:lstStyle/>
          <a:p>
            <a:r>
              <a:rPr lang="en-IN" dirty="0"/>
              <a:t>Question: To check for </a:t>
            </a:r>
            <a:r>
              <a:rPr lang="en-IN" dirty="0" err="1"/>
              <a:t>pearson</a:t>
            </a:r>
            <a:r>
              <a:rPr lang="en-IN" dirty="0"/>
              <a:t> correlation between length of stay and the total charge.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C03F1B-638B-49E5-3B0D-819D3851E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06" y="2009658"/>
            <a:ext cx="4456658" cy="2573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5AD51A-9EEC-485B-B8F0-0DF5435656CE}"/>
              </a:ext>
            </a:extLst>
          </p:cNvPr>
          <p:cNvSpPr txBox="1"/>
          <p:nvPr/>
        </p:nvSpPr>
        <p:spPr>
          <a:xfrm>
            <a:off x="612418" y="4896867"/>
            <a:ext cx="75110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This indicates that there is a moderate positive correlation between the length of stay and the total charge. Meaning that when the length of stay increases, so does the total charge increases.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C44A92A-1D20-BCE1-D1E0-0096876C6543}"/>
                  </a:ext>
                </a:extLst>
              </p14:cNvPr>
              <p14:cNvContentPartPr/>
              <p14:nvPr/>
            </p14:nvContentPartPr>
            <p14:xfrm>
              <a:off x="5724150" y="3477701"/>
              <a:ext cx="764640" cy="25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C44A92A-1D20-BCE1-D1E0-0096876C65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6510" y="3460061"/>
                <a:ext cx="800280" cy="6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824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E61D-F98C-C356-E137-810635132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1239" y="-326071"/>
            <a:ext cx="7680896" cy="2169160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833728-F127-FDFB-62AC-3AB9C147210E}"/>
              </a:ext>
            </a:extLst>
          </p:cNvPr>
          <p:cNvSpPr txBox="1"/>
          <p:nvPr/>
        </p:nvSpPr>
        <p:spPr>
          <a:xfrm>
            <a:off x="1281112" y="1519923"/>
            <a:ext cx="96297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chemeClr val="bg1"/>
                </a:solidFill>
              </a:rPr>
              <a:t>Ttest</a:t>
            </a:r>
            <a:r>
              <a:rPr lang="en-IN" dirty="0">
                <a:solidFill>
                  <a:schemeClr val="bg1"/>
                </a:solidFill>
              </a:rPr>
              <a:t>: Although the p-value is close to 0.05, it is not a significant value but we can still conclude that-</a:t>
            </a:r>
          </a:p>
          <a:p>
            <a:r>
              <a:rPr lang="en-IN" dirty="0">
                <a:solidFill>
                  <a:schemeClr val="bg1"/>
                </a:solidFill>
              </a:rPr>
              <a:t>There is a difference between the low dose group and high dose group affecting the Fasting blood sugar levels. </a:t>
            </a:r>
          </a:p>
          <a:p>
            <a:r>
              <a:rPr lang="en-IN" dirty="0">
                <a:solidFill>
                  <a:schemeClr val="bg1"/>
                </a:solidFill>
              </a:rPr>
              <a:t>The mean difference was found to be 12.4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Anova test</a:t>
            </a:r>
            <a:r>
              <a:rPr lang="en-IN" dirty="0">
                <a:solidFill>
                  <a:schemeClr val="bg1"/>
                </a:solidFill>
              </a:rPr>
              <a:t>: p-value is significant with 0.005 to reject the null hypothesis.</a:t>
            </a:r>
          </a:p>
          <a:p>
            <a:r>
              <a:rPr lang="en-IN" dirty="0">
                <a:solidFill>
                  <a:schemeClr val="bg1"/>
                </a:solidFill>
              </a:rPr>
              <a:t>The </a:t>
            </a:r>
            <a:r>
              <a:rPr lang="en-IN" dirty="0" err="1">
                <a:solidFill>
                  <a:schemeClr val="bg1"/>
                </a:solidFill>
              </a:rPr>
              <a:t>scheffe</a:t>
            </a:r>
            <a:r>
              <a:rPr lang="en-IN" dirty="0">
                <a:solidFill>
                  <a:schemeClr val="bg1"/>
                </a:solidFill>
              </a:rPr>
              <a:t> test indicates the highest difference of means is between low and placebo group.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88261-4BE6-527A-33AE-52AA788315D2}"/>
              </a:ext>
            </a:extLst>
          </p:cNvPr>
          <p:cNvSpPr txBox="1"/>
          <p:nvPr/>
        </p:nvSpPr>
        <p:spPr>
          <a:xfrm>
            <a:off x="1281112" y="3967424"/>
            <a:ext cx="962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There is positive relationship between length of stay and total charge.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DA97F-7643-2E1D-EC7F-2F5B73AB3EBA}"/>
              </a:ext>
            </a:extLst>
          </p:cNvPr>
          <p:cNvSpPr txBox="1"/>
          <p:nvPr/>
        </p:nvSpPr>
        <p:spPr>
          <a:xfrm>
            <a:off x="1281112" y="4475933"/>
            <a:ext cx="681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Out of 1000, 404 were from Arizona and 596 from California.</a:t>
            </a:r>
          </a:p>
        </p:txBody>
      </p:sp>
    </p:spTree>
    <p:extLst>
      <p:ext uri="{BB962C8B-B14F-4D97-AF65-F5344CB8AC3E}">
        <p14:creationId xmlns:p14="http://schemas.microsoft.com/office/powerpoint/2010/main" val="3542321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7479-8461-268D-7074-040E566360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6644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93">
      <a:majorFont>
        <a:latin typeface="Rockwel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787325_Lab safety_win32_sl_v3" id="{D64AF424-20BD-49B4-B694-301E69FF220B}" vid="{9707B19F-3C0C-4510-9A4B-339DEF251C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E0CC7A-D12B-4253-A55F-EB630E52C0D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E32312C-73FA-48DB-88E9-32B5B10F6E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7EEB9A-E57A-49BD-B528-AD5141A20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Lab safety</Template>
  <TotalTime>2924</TotalTime>
  <Words>600</Words>
  <Application>Microsoft Office PowerPoint</Application>
  <PresentationFormat>Widescreen</PresentationFormat>
  <Paragraphs>62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Rockwell</vt:lpstr>
      <vt:lpstr>Tahoma</vt:lpstr>
      <vt:lpstr>Custom</vt:lpstr>
      <vt:lpstr>SAS Project </vt:lpstr>
      <vt:lpstr>Introduction</vt:lpstr>
      <vt:lpstr>Data reading and cleaning</vt:lpstr>
      <vt:lpstr>Merging</vt:lpstr>
      <vt:lpstr>Sampling </vt:lpstr>
      <vt:lpstr>Descriptive statistics</vt:lpstr>
      <vt:lpstr>Proc means </vt:lpstr>
      <vt:lpstr>Hypothesis</vt:lpstr>
      <vt:lpstr>T test- Two sample</vt:lpstr>
      <vt:lpstr>Equality of Variance</vt:lpstr>
      <vt:lpstr>P value – 0.0253</vt:lpstr>
      <vt:lpstr>PowerPoint Presentation</vt:lpstr>
      <vt:lpstr>Proc GLM was executed</vt:lpstr>
      <vt:lpstr>Anova test with scheffe.</vt:lpstr>
      <vt:lpstr>Pearson correlation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Karishma Parekh</dc:creator>
  <cp:lastModifiedBy>Krishna Parekh</cp:lastModifiedBy>
  <cp:revision>63</cp:revision>
  <dcterms:created xsi:type="dcterms:W3CDTF">2024-12-05T19:00:51Z</dcterms:created>
  <dcterms:modified xsi:type="dcterms:W3CDTF">2026-03-09T02:58:31Z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